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5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52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83171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0448F-4673-7F67-CDA3-4341F7F4D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EE8EC7-BF2E-75A5-72E2-071EC5C1FB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59A036-3276-AD2D-A2A2-C05D6CDC78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843914-E903-8527-3F6B-F943C34F1F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4039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kern="0" spc="8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ELEVATE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School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31089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Programming Basics  |  IX Grade  |  2025/2026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0" y="3017520"/>
            <a:ext cx="2743200" cy="36576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D8590"/>
                </a:solidFill>
              </a:rPr>
              <a:t>Professional Gymnasium for Computer Programming &amp; Innovations  —  Burgas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Elevate?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 is a C++ console application that functions as an interactive Electronic School for learning C++ Programming Basics. It combines structured learning content, randomized testing, and student statistics in one program.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2103120"/>
            <a:ext cx="2560320" cy="2560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2103120"/>
            <a:ext cx="2560320" cy="7315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22402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Mode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" y="274320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all 30 questions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correct answers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per category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0" y="2103120"/>
            <a:ext cx="2560320" cy="2560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0" y="2103120"/>
            <a:ext cx="2560320" cy="7315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37560" y="22402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Mode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337560" y="274320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randomly generated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graded 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Bulgarian 2-6 scale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35040" y="2103120"/>
            <a:ext cx="2560320" cy="2560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035040" y="2103120"/>
            <a:ext cx="2560320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72200" y="22402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172200" y="274320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scores, averages,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best/worst students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category performance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EE08F0-9AF8-91D4-B22F-475F479FC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63569A6-91A7-BF16-A00A-A6059BE5FDA7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CD22CDF-9A35-4995-791F-3668B3E4209F}"/>
              </a:ext>
            </a:extLst>
          </p:cNvPr>
          <p:cNvSpPr/>
          <p:nvPr/>
        </p:nvSpPr>
        <p:spPr>
          <a:xfrm>
            <a:off x="482138" y="105156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team:</a:t>
            </a:r>
            <a:endParaRPr lang="en-US" sz="3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6B15E37-7CC6-548A-6D9E-9CB8F8801BAD}"/>
              </a:ext>
            </a:extLst>
          </p:cNvPr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634CBEB2-0BE3-7710-4373-4F0D285A3676}"/>
              </a:ext>
            </a:extLst>
          </p:cNvPr>
          <p:cNvSpPr/>
          <p:nvPr/>
        </p:nvSpPr>
        <p:spPr>
          <a:xfrm>
            <a:off x="170831" y="1623097"/>
            <a:ext cx="1804700" cy="103296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94CD3CB-F639-0A28-8E13-8559D2E1D81A}"/>
              </a:ext>
            </a:extLst>
          </p:cNvPr>
          <p:cNvSpPr/>
          <p:nvPr/>
        </p:nvSpPr>
        <p:spPr>
          <a:xfrm>
            <a:off x="195996" y="1946987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 err="1">
                <a:solidFill>
                  <a:schemeClr val="accent1"/>
                </a:solidFill>
                <a:latin typeface="Calibri" pitchFamily="34" charset="0"/>
                <a:cs typeface="Calibri" pitchFamily="34" charset="-120"/>
              </a:rPr>
              <a:t>Vilian</a:t>
            </a:r>
            <a:r>
              <a:rPr lang="en-US" b="1" dirty="0">
                <a:solidFill>
                  <a:schemeClr val="accent1"/>
                </a:solidFill>
                <a:latin typeface="Calibri" pitchFamily="34" charset="0"/>
                <a:cs typeface="Calibri" pitchFamily="34" charset="-120"/>
              </a:rPr>
              <a:t> Ivanov</a:t>
            </a:r>
            <a:endParaRPr lang="en-US" sz="1800" dirty="0">
              <a:solidFill>
                <a:schemeClr val="accent1"/>
              </a:solidFill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9240C3C-8799-882F-7437-748408E8D798}"/>
              </a:ext>
            </a:extLst>
          </p:cNvPr>
          <p:cNvSpPr/>
          <p:nvPr/>
        </p:nvSpPr>
        <p:spPr>
          <a:xfrm>
            <a:off x="502920" y="274320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E0A412C0-C1CC-4F3D-9827-F0A66047CB76}"/>
              </a:ext>
            </a:extLst>
          </p:cNvPr>
          <p:cNvSpPr/>
          <p:nvPr/>
        </p:nvSpPr>
        <p:spPr>
          <a:xfrm>
            <a:off x="2481996" y="1623097"/>
            <a:ext cx="1621110" cy="94771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F778202-035E-DFA8-268C-1F1FFC30A2F8}"/>
              </a:ext>
            </a:extLst>
          </p:cNvPr>
          <p:cNvSpPr/>
          <p:nvPr/>
        </p:nvSpPr>
        <p:spPr>
          <a:xfrm>
            <a:off x="2436800" y="1944803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Calibri" pitchFamily="34" charset="0"/>
                <a:cs typeface="Calibri" pitchFamily="34" charset="-120"/>
              </a:rPr>
              <a:t>Todor Neshev</a:t>
            </a: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5BB1A79-61BC-0833-4400-7DF0F16516C1}"/>
              </a:ext>
            </a:extLst>
          </p:cNvPr>
          <p:cNvSpPr/>
          <p:nvPr/>
        </p:nvSpPr>
        <p:spPr>
          <a:xfrm>
            <a:off x="3337560" y="274320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A37A3219-4804-9BB4-FCD2-E75C2B843EC6}"/>
              </a:ext>
            </a:extLst>
          </p:cNvPr>
          <p:cNvSpPr/>
          <p:nvPr/>
        </p:nvSpPr>
        <p:spPr>
          <a:xfrm>
            <a:off x="4561169" y="1658380"/>
            <a:ext cx="2033300" cy="62254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51FEDDEA-B502-2787-8373-61A6C55CF02E}"/>
              </a:ext>
            </a:extLst>
          </p:cNvPr>
          <p:cNvSpPr/>
          <p:nvPr/>
        </p:nvSpPr>
        <p:spPr>
          <a:xfrm>
            <a:off x="4561169" y="1944497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00"/>
                </a:solidFill>
                <a:latin typeface="Calibri" pitchFamily="34" charset="0"/>
                <a:cs typeface="Calibri" pitchFamily="34" charset="-120"/>
              </a:rPr>
              <a:t>Dara </a:t>
            </a:r>
            <a:r>
              <a:rPr lang="en-US" b="1" dirty="0" err="1">
                <a:solidFill>
                  <a:srgbClr val="FFFF00"/>
                </a:solidFill>
                <a:latin typeface="Calibri" pitchFamily="34" charset="0"/>
                <a:cs typeface="Calibri" pitchFamily="34" charset="-120"/>
              </a:rPr>
              <a:t>Sokrateva</a:t>
            </a:r>
            <a:endParaRPr lang="en-US" sz="1800" dirty="0">
              <a:solidFill>
                <a:srgbClr val="FFFF00"/>
              </a:solidFill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4E7BC148-0C13-CA75-47B8-BD76B637DE99}"/>
              </a:ext>
            </a:extLst>
          </p:cNvPr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1D23504A-096A-B8FA-6211-EC05C3D70A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996" y="2571177"/>
            <a:ext cx="1804700" cy="1839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9E0ADBD6-2B4E-1DF3-88FE-DD3746CE7C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6800" y="2536293"/>
            <a:ext cx="1636224" cy="1874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Open photo">
            <a:extLst>
              <a:ext uri="{FF2B5EF4-FFF2-40B4-BE49-F238E27FC236}">
                <a16:creationId xmlns:a16="http://schemas.microsoft.com/office/drawing/2014/main" id="{1A0302B7-BA8C-DE99-F5FE-5D01E3A04E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6938" y="2536293"/>
            <a:ext cx="1927382" cy="1874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Shape 5">
            <a:extLst>
              <a:ext uri="{FF2B5EF4-FFF2-40B4-BE49-F238E27FC236}">
                <a16:creationId xmlns:a16="http://schemas.microsoft.com/office/drawing/2014/main" id="{8B987C1E-3A69-35B5-1B81-39BB8645A983}"/>
              </a:ext>
            </a:extLst>
          </p:cNvPr>
          <p:cNvSpPr/>
          <p:nvPr/>
        </p:nvSpPr>
        <p:spPr>
          <a:xfrm>
            <a:off x="7059082" y="1675364"/>
            <a:ext cx="2000316" cy="102057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1038" name="Picture 14" descr="Open photo">
            <a:extLst>
              <a:ext uri="{FF2B5EF4-FFF2-40B4-BE49-F238E27FC236}">
                <a16:creationId xmlns:a16="http://schemas.microsoft.com/office/drawing/2014/main" id="{3A5F3115-DDB5-0D8E-82B7-DB05448E73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5311" y="2508467"/>
            <a:ext cx="1991868" cy="1902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653FAE62-0330-2FA9-5C6B-5BCA49AD4041}"/>
              </a:ext>
            </a:extLst>
          </p:cNvPr>
          <p:cNvSpPr txBox="1"/>
          <p:nvPr/>
        </p:nvSpPr>
        <p:spPr>
          <a:xfrm>
            <a:off x="7145311" y="1965571"/>
            <a:ext cx="19140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Mihail </a:t>
            </a:r>
            <a:r>
              <a:rPr lang="en-US" dirty="0" err="1">
                <a:solidFill>
                  <a:schemeClr val="accent1"/>
                </a:solidFill>
              </a:rPr>
              <a:t>Mavrodiev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630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&amp; File Structure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84048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389888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920240" y="138988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(C++17 standard)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029968"/>
            <a:ext cx="384048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2048256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920240" y="2048256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Raylib 5.0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688336"/>
            <a:ext cx="384048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2706624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20240" y="2706624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 2022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346704"/>
            <a:ext cx="384048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4360" y="3364992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920240" y="336499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914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Files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846320" y="1325880"/>
            <a:ext cx="45720" cy="34747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83480" y="13258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main.cpp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0" y="13258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point, game loop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46320" y="1783080"/>
            <a:ext cx="45720" cy="34747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83480" y="17830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globals.h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58000" y="17830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Structs &amp; constants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2240280"/>
            <a:ext cx="45720" cy="34747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83480" y="22402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questions.h/.cpp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58000" y="22402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30-question bank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46320" y="2697480"/>
            <a:ext cx="45720" cy="34747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983480" y="26974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accounts.h/.cpp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858000" y="26974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 password hash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46320" y="3154680"/>
            <a:ext cx="45720" cy="34747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983480" y="31546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test.h/.cpp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858000" y="31546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generation &amp; scoring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46320" y="3611880"/>
            <a:ext cx="45720" cy="34747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983480" y="36118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statistics.h/.cpp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858000" y="36118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analytics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846320" y="4069080"/>
            <a:ext cx="45720" cy="34747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983480" y="40690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renderer.h/.cpp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858000" y="40690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Raylib UI code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846320" y="4526280"/>
            <a:ext cx="45720" cy="34747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983480" y="45262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utils.h/.cpp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858000" y="45262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Utilities &amp; grading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Concepts Used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743200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54864" cy="182880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11556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1536192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functions for input, output,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data processing. Function overloading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default parameters used throughout.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743200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0" y="1005840"/>
            <a:ext cx="54864" cy="182880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37560" y="111556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37560" y="1536192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Fisher-Yates shuffle uses recursion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random index swapping. Password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 iterates recursively over chars.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005840"/>
            <a:ext cx="2743200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126480" y="1005840"/>
            <a:ext cx="54864" cy="18288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63640" y="111556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63640" y="1536192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std::string class used for all text.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Methods: substr, find, size, erase,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concatenation with + operator.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971800"/>
            <a:ext cx="2743200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4320" y="2971800"/>
            <a:ext cx="54864" cy="1828800"/>
          </a:xfrm>
          <a:prstGeom prst="rect">
            <a:avLst/>
          </a:prstGeom>
          <a:solidFill>
            <a:srgbClr val="FFA31A"/>
          </a:solidFill>
          <a:ln w="12700">
            <a:solidFill>
              <a:srgbClr val="FFA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1480" y="308152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A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11480" y="3502152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and StudentResult structs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all data. Arrays of structs used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question bank and results.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0" y="2971800"/>
            <a:ext cx="2743200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200400" y="2971800"/>
            <a:ext cx="54864" cy="182880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337560" y="308152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&amp; 2D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337560" y="3502152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bank is a fixed array[30].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categoryCorrect[NUM_CATEGORIES] is 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2D-like array inside each struct.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26480" y="2971800"/>
            <a:ext cx="2743200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126480" y="2971800"/>
            <a:ext cx="54864" cy="182880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263640" y="308152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Bitwise / Hashing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263640" y="3502152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hashing uses XOR (^) bitwise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on each character combined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position-based salt value.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A31A"/>
          </a:solidFill>
          <a:ln w="12700">
            <a:solidFill>
              <a:srgbClr val="FFA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System &amp; Password Hashing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A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User registers with username + password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Password is hashed using XOR + hex string algorithm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Only the hash is stored — never the plain text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880360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On login, the entered password is hashed again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383280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Hashes are compared using string equality (==)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886200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First registered account automatically becomes Admin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914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A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Algorithm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846320" y="1325880"/>
            <a:ext cx="3840480" cy="3200400"/>
          </a:xfrm>
          <a:prstGeom prst="rect">
            <a:avLst/>
          </a:prstGeom>
          <a:solidFill>
            <a:srgbClr val="1E2530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83480" y="141732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each char in password: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83480" y="178308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mixed = (char XOR (pos+7))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83480" y="214884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+ (pos * 3)) % 256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83480" y="251460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hex += hexChars[mixed/16]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83480" y="288036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hex += hexChars[mixed%16]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83480" y="324612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83480" y="361188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checksum = sum(all chars) % 65536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83480" y="397764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 = "L{len}-{hex}-{checksum}"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FFA31A"/>
          </a:solidFill>
          <a:ln w="12700">
            <a:solidFill>
              <a:srgbClr val="FFA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System &amp; Grading Scale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Bank Structure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2011680" cy="347472"/>
          </a:xfrm>
          <a:prstGeom prst="rect">
            <a:avLst/>
          </a:prstGeom>
          <a:solidFill>
            <a:srgbClr val="1E2530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3258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68880" y="1325880"/>
            <a:ext cx="731520" cy="347472"/>
          </a:xfrm>
          <a:prstGeom prst="rect">
            <a:avLst/>
          </a:prstGeom>
          <a:solidFill>
            <a:srgbClr val="1E2530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14600" y="132588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325880"/>
            <a:ext cx="731520" cy="347472"/>
          </a:xfrm>
          <a:prstGeom prst="rect">
            <a:avLst/>
          </a:prstGeom>
          <a:solidFill>
            <a:srgbClr val="1E2530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46120" y="132588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Test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931920" y="1325880"/>
            <a:ext cx="914400" cy="347472"/>
          </a:xfrm>
          <a:prstGeom prst="rect">
            <a:avLst/>
          </a:prstGeom>
          <a:solidFill>
            <a:srgbClr val="1E2530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977640" y="132588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Each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1325880"/>
            <a:ext cx="914400" cy="347472"/>
          </a:xfrm>
          <a:prstGeom prst="rect">
            <a:avLst/>
          </a:prstGeom>
          <a:solidFill>
            <a:srgbClr val="1E2530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92040" y="132588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Points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1691640"/>
            <a:ext cx="2011680" cy="3657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16916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&amp; Data Types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68880" y="1691640"/>
            <a:ext cx="731520" cy="3657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514600" y="16916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1691640"/>
            <a:ext cx="731520" cy="3657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46120" y="16916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931920" y="1691640"/>
            <a:ext cx="914400" cy="3657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977640" y="169164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1691640"/>
            <a:ext cx="914400" cy="3657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92040" y="169164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pts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2075688"/>
            <a:ext cx="2011680" cy="3657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02920" y="207568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Flow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68880" y="2075688"/>
            <a:ext cx="731520" cy="3657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514600" y="207568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0" y="2075688"/>
            <a:ext cx="731520" cy="3657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246120" y="207568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931920" y="2075688"/>
            <a:ext cx="914400" cy="3657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977640" y="2075688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46320" y="2075688"/>
            <a:ext cx="914400" cy="3657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892040" y="2075688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pts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2459736"/>
            <a:ext cx="2011680" cy="3657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02920" y="2459736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&amp; Strings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468880" y="2459736"/>
            <a:ext cx="731520" cy="3657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514600" y="2459736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200400" y="2459736"/>
            <a:ext cx="731520" cy="3657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246120" y="2459736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931920" y="2459736"/>
            <a:ext cx="914400" cy="3657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977640" y="2459736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pts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846320" y="2459736"/>
            <a:ext cx="914400" cy="3657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892040" y="2459736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pts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57200" y="2843784"/>
            <a:ext cx="2011680" cy="365760"/>
          </a:xfrm>
          <a:prstGeom prst="rect">
            <a:avLst/>
          </a:prstGeom>
          <a:solidFill>
            <a:srgbClr val="1E2530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02920" y="2843784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468880" y="2843784"/>
            <a:ext cx="731520" cy="365760"/>
          </a:xfrm>
          <a:prstGeom prst="rect">
            <a:avLst/>
          </a:prstGeom>
          <a:solidFill>
            <a:srgbClr val="1E2530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2514600" y="2843784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3200400" y="2843784"/>
            <a:ext cx="731520" cy="365760"/>
          </a:xfrm>
          <a:prstGeom prst="rect">
            <a:avLst/>
          </a:prstGeom>
          <a:solidFill>
            <a:srgbClr val="1E2530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3246120" y="2843784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3931920" y="2843784"/>
            <a:ext cx="914400" cy="365760"/>
          </a:xfrm>
          <a:prstGeom prst="rect">
            <a:avLst/>
          </a:prstGeom>
          <a:solidFill>
            <a:srgbClr val="1E2530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3977640" y="2843784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846320" y="2843784"/>
            <a:ext cx="914400" cy="365760"/>
          </a:xfrm>
          <a:prstGeom prst="rect">
            <a:avLst/>
          </a:prstGeom>
          <a:solidFill>
            <a:srgbClr val="1E2530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892040" y="2843784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pts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5669280" y="9144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A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Bulgarian Grading Scale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5669280" y="1371600"/>
            <a:ext cx="301752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5669280" y="1371600"/>
            <a:ext cx="54864" cy="50292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5806440" y="137160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6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6949440" y="13716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&gt;= 90%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5669280" y="1938528"/>
            <a:ext cx="301752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5669280" y="1938528"/>
            <a:ext cx="54864" cy="5029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5806440" y="1938528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5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6949440" y="1938528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&gt;= 75%</a:t>
            </a:r>
            <a:endParaRPr lang="en-US" sz="1400" dirty="0"/>
          </a:p>
        </p:txBody>
      </p:sp>
      <p:sp>
        <p:nvSpPr>
          <p:cNvPr id="65" name="Shape 63"/>
          <p:cNvSpPr/>
          <p:nvPr/>
        </p:nvSpPr>
        <p:spPr>
          <a:xfrm>
            <a:off x="5669280" y="2505456"/>
            <a:ext cx="301752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5669280" y="2505456"/>
            <a:ext cx="54864" cy="502920"/>
          </a:xfrm>
          <a:prstGeom prst="rect">
            <a:avLst/>
          </a:prstGeom>
          <a:solidFill>
            <a:srgbClr val="FFA31A"/>
          </a:solidFill>
          <a:ln w="12700">
            <a:solidFill>
              <a:srgbClr val="FFA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5806440" y="2505456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A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4</a:t>
            </a:r>
            <a:endParaRPr lang="en-US" sz="1400" dirty="0"/>
          </a:p>
        </p:txBody>
      </p:sp>
      <p:sp>
        <p:nvSpPr>
          <p:cNvPr id="68" name="Text 66"/>
          <p:cNvSpPr/>
          <p:nvPr/>
        </p:nvSpPr>
        <p:spPr>
          <a:xfrm>
            <a:off x="6949440" y="2505456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&gt;= 62%</a:t>
            </a:r>
            <a:endParaRPr lang="en-US" sz="1400" dirty="0"/>
          </a:p>
        </p:txBody>
      </p:sp>
      <p:sp>
        <p:nvSpPr>
          <p:cNvPr id="69" name="Shape 67"/>
          <p:cNvSpPr/>
          <p:nvPr/>
        </p:nvSpPr>
        <p:spPr>
          <a:xfrm>
            <a:off x="5669280" y="3072384"/>
            <a:ext cx="301752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5669280" y="3072384"/>
            <a:ext cx="54864" cy="502920"/>
          </a:xfrm>
          <a:prstGeom prst="rect">
            <a:avLst/>
          </a:prstGeom>
          <a:solidFill>
            <a:srgbClr val="FFA31A"/>
          </a:solidFill>
          <a:ln w="12700">
            <a:solidFill>
              <a:srgbClr val="FFA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5806440" y="3072384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A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</a:t>
            </a:r>
            <a:endParaRPr lang="en-US" sz="1400" dirty="0"/>
          </a:p>
        </p:txBody>
      </p:sp>
      <p:sp>
        <p:nvSpPr>
          <p:cNvPr id="72" name="Text 70"/>
          <p:cNvSpPr/>
          <p:nvPr/>
        </p:nvSpPr>
        <p:spPr>
          <a:xfrm>
            <a:off x="6949440" y="3072384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&gt;= 50%</a:t>
            </a:r>
            <a:endParaRPr lang="en-US" sz="1400" dirty="0"/>
          </a:p>
        </p:txBody>
      </p:sp>
      <p:sp>
        <p:nvSpPr>
          <p:cNvPr id="73" name="Shape 71"/>
          <p:cNvSpPr/>
          <p:nvPr/>
        </p:nvSpPr>
        <p:spPr>
          <a:xfrm>
            <a:off x="5669280" y="3639312"/>
            <a:ext cx="301752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5669280" y="3639312"/>
            <a:ext cx="54864" cy="50292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5806440" y="3639312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2</a:t>
            </a:r>
            <a:endParaRPr lang="en-US" sz="1400" dirty="0"/>
          </a:p>
        </p:txBody>
      </p:sp>
      <p:sp>
        <p:nvSpPr>
          <p:cNvPr id="76" name="Text 74"/>
          <p:cNvSpPr/>
          <p:nvPr/>
        </p:nvSpPr>
        <p:spPr>
          <a:xfrm>
            <a:off x="6949440" y="3639312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50%</a:t>
            </a:r>
            <a:endParaRPr lang="en-US" sz="1400" dirty="0"/>
          </a:p>
        </p:txBody>
      </p:sp>
      <p:sp>
        <p:nvSpPr>
          <p:cNvPr id="77" name="Shape 75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Raylib — Graphical Interface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graphical code is isolated in renderer.cpp / renderer.h. The C++ logic (grading, hashing, test generation) is completely separate and unchanged. Every Raylib function call is commented to explain what it does.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256032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256032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" y="192024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75488" y="2304288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Username/password input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text cursor &amp; masking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828800"/>
            <a:ext cx="256032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0" y="1828800"/>
            <a:ext cx="256032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10128" y="192024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10128" y="2304288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creation with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confirmation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828800"/>
            <a:ext cx="256032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035040" y="1828800"/>
            <a:ext cx="256032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44768" y="192024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Menu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144768" y="2304288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clickable cards,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full-screen responsive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256032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65760" y="3246120"/>
            <a:ext cx="256032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5488" y="33375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Mode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75488" y="3721608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Scrollable lesson view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correct answers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0" y="3246120"/>
            <a:ext cx="256032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200400" y="3246120"/>
            <a:ext cx="256032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310128" y="33375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310128" y="3721608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bar, answer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with timer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35040" y="3246120"/>
            <a:ext cx="256032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035040" y="3246120"/>
            <a:ext cx="256032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144768" y="33375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144768" y="3721608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Scrollable table,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bar charts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&amp; Project Management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Structure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4114800" cy="3200400"/>
          </a:xfrm>
          <a:prstGeom prst="rect">
            <a:avLst/>
          </a:prstGeom>
          <a:solidFill>
            <a:srgbClr val="1E2530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4447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ElevateFinal/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7373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85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elevate.sln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0299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85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.gitignore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32257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raylib/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261518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85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include/  (raylib.h, rlgl.h ...)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9077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85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lib/      (raylibdll.lib)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32004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elevate/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3493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85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elevate.vcxproj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378561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*.cpp  *.h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407822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85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x64/Debug/raylib.dll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960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Workflow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029200" y="1417320"/>
            <a:ext cx="36576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166360" y="144475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166360" y="176479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all changes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0" y="2194560"/>
            <a:ext cx="36576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166360" y="222199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"message"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166360" y="254203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with description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0" y="2971800"/>
            <a:ext cx="36576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166360" y="299923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66360" y="331927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GitHub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29200" y="3749040"/>
            <a:ext cx="36576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166360" y="377647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.gitignore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66360" y="409651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Excludes x64/, .vs/, *.exe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kern="0" spc="4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0" y="2651760"/>
            <a:ext cx="3657600" cy="36576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292608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14400" y="36576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834640" y="292608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834640" y="36576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Files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0" y="292608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754880" y="36576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92608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675120" y="36576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IX Grade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D8590"/>
                </a:solidFill>
              </a:rPr>
              <a:t>Professional Gymnasium for Computer Programming &amp; Innovations — Burgas  |  2025/2026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768</Words>
  <Application>Microsoft Office PowerPoint</Application>
  <PresentationFormat>On-screen Show (16:9)</PresentationFormat>
  <Paragraphs>191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Elevate - Electronic School</dc:title>
  <dc:subject>PptxGenJS Presentation</dc:subject>
  <dc:creator>Elevate Team</dc:creator>
  <cp:lastModifiedBy>Todor Neshev</cp:lastModifiedBy>
  <cp:revision>2</cp:revision>
  <dcterms:created xsi:type="dcterms:W3CDTF">2026-03-23T21:39:44Z</dcterms:created>
  <dcterms:modified xsi:type="dcterms:W3CDTF">2026-03-23T22:30:00Z</dcterms:modified>
</cp:coreProperties>
</file>